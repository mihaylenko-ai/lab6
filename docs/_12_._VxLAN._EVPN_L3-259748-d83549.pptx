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26"/>
  </p:notesMasterIdLst>
  <p:sldIdLst>
    <p:sldId id="256" r:id="rId2"/>
    <p:sldId id="28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7AE007-A94F-4128-B8A2-462DFF7BA68B}">
  <a:tblStyle styleId="{C37AE007-A94F-4128-B8A2-462DFF7BA68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_Slide">
  <p:cSld name="Multi_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74664" y="1347789"/>
            <a:ext cx="8280057" cy="307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15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7766" y="341314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rgbClr val="004C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otus.ru</a:t>
            </a: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VxLAN</a:t>
            </a:r>
            <a:r>
              <a:rPr lang="en-US" dirty="0"/>
              <a:t>. EVPN L3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24713-1C8B-76CA-E2DF-C5A18FBFD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9C44A-5213-7F1E-94DE-9CAE2F58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3" y="214916"/>
            <a:ext cx="8379853" cy="47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6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 sz="3200" b="1"/>
              <a:t>Правила вебинара</a:t>
            </a:r>
            <a:endParaRPr sz="3200" b="1"/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49" y="3115325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0" y="2225450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654524" y="2230463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654524" y="3139103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Маршрут вебинара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86525" y="1205525"/>
            <a:ext cx="38439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L3 архитектуры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787125" y="1795027"/>
            <a:ext cx="38433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Модели IRB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87125" y="2372042"/>
            <a:ext cx="38433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Anycast GW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86525" y="2949064"/>
            <a:ext cx="38439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 Suppression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86525" y="3526100"/>
            <a:ext cx="38439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sz="13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5"/>
          <p:cNvCxnSpPr>
            <a:stCxn id="93" idx="1"/>
            <a:endCxn id="94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99" name="Google Shape;99;p15"/>
          <p:cNvCxnSpPr>
            <a:stCxn id="94" idx="1"/>
            <a:endCxn id="95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59833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0" name="Google Shape;100;p15"/>
          <p:cNvCxnSpPr>
            <a:stCxn id="95" idx="1"/>
            <a:endCxn id="96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1" name="Google Shape;101;p15"/>
          <p:cNvCxnSpPr>
            <a:stCxn id="96" idx="1"/>
            <a:endCxn id="97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598333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2" name="Google Shape;102;p15"/>
          <p:cNvSpPr/>
          <p:nvPr/>
        </p:nvSpPr>
        <p:spPr>
          <a:xfrm>
            <a:off x="786525" y="4117773"/>
            <a:ext cx="384335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sz="1300" b="0" i="0" u="none" strike="noStrike" cap="none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" name="Google Shape;103;p15"/>
          <p:cNvCxnSpPr/>
          <p:nvPr/>
        </p:nvCxnSpPr>
        <p:spPr>
          <a:xfrm rot="5400000">
            <a:off x="491775" y="3996329"/>
            <a:ext cx="576900" cy="12600"/>
          </a:xfrm>
          <a:prstGeom prst="curvedConnector3">
            <a:avLst>
              <a:gd name="adj1" fmla="val 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Цели вебинара</a:t>
            </a:r>
            <a:endParaRPr/>
          </a:p>
        </p:txBody>
      </p:sp>
      <p:graphicFrame>
        <p:nvGraphicFramePr>
          <p:cNvPr id="109" name="Google Shape;109;p16"/>
          <p:cNvGraphicFramePr/>
          <p:nvPr/>
        </p:nvGraphicFramePr>
        <p:xfrm>
          <a:off x="622005" y="1544194"/>
          <a:ext cx="7569500" cy="398262"/>
        </p:xfrm>
        <a:graphic>
          <a:graphicData uri="http://schemas.openxmlformats.org/drawingml/2006/table">
            <a:tbl>
              <a:tblPr>
                <a:noFill/>
                <a:tableStyleId>{C37AE007-A94F-4128-B8A2-462DFF7BA68B}</a:tableStyleId>
              </a:tblPr>
              <a:tblGrid>
                <a:gridCol w="5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u="none" strike="noStrike" cap="non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Разобрать L3 функционал в VxLAN EVPN и соответствующие фичи</a:t>
                      </a:r>
                      <a:endParaRPr sz="16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" name="Google Shape;110;p16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None/>
            </a:pPr>
            <a:r>
              <a:rPr lang="en-US" sz="1500" b="1" i="0" u="none" strike="noStrike" cap="non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После занятия вы сможете</a:t>
            </a:r>
            <a:endParaRPr sz="1500" b="1" i="0" u="none" strike="noStrike" cap="non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800">
                <a:solidFill>
                  <a:schemeClr val="lt1"/>
                </a:solidFill>
              </a:rPr>
              <a:t>L3 архитектуры</a:t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Bridged Overlay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00551" y="1063751"/>
            <a:ext cx="3392264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Шлюз по умолчанию и маршрутизация вне фабрики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Сервис – L2 свитч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Сегментация на уровне VLAN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Сегментация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Простота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Неоптимальность следования трафика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Нет ARP Suppression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9304" y="1284865"/>
            <a:ext cx="5368832" cy="248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Edge-Routed Bridging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500551" y="1063751"/>
            <a:ext cx="339226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Шлюз по умолчанию и маршрутизация на VTEP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Сервис – L3 свитч (MLS)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Сегментация на уровне VRF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Преимущества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Оптимальность следования трафика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ARP Suppression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Недостатки</a:t>
            </a:r>
            <a:endParaRPr sz="14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Более дорогое оборудование</a:t>
            </a: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None/>
            </a:pPr>
            <a:endParaRPr sz="1400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497" y="1342830"/>
            <a:ext cx="5388341" cy="2365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800">
                <a:solidFill>
                  <a:schemeClr val="lt1"/>
                </a:solidFill>
              </a:rPr>
              <a:t>Модели IRB</a:t>
            </a:r>
            <a:br>
              <a:rPr lang="en-US" sz="4800">
                <a:solidFill>
                  <a:schemeClr val="lt1"/>
                </a:solidFill>
              </a:rPr>
            </a:br>
            <a:r>
              <a:rPr lang="en-US" sz="4800">
                <a:solidFill>
                  <a:schemeClr val="lt1"/>
                </a:solidFill>
              </a:rPr>
              <a:t>(</a:t>
            </a:r>
            <a:r>
              <a:rPr lang="en-US" sz="4800"/>
              <a:t>Integrated Routing and Bridging)</a:t>
            </a:r>
            <a:endParaRPr sz="4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397643" y="288139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Asymmetric IRB</a:t>
            </a:r>
            <a:br>
              <a:rPr lang="en-US"/>
            </a:b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397643" y="994705"/>
            <a:ext cx="784665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Маршрутизация на ingress VTEP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egress VTEP только коммутация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Асимметричность – разные VNI на разных направлениях одного потока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всех VTEP должны быть сконфигурированы все VLAN-VNI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VRF-Lite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Плюсы: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Низкая задержка (TTL -1)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Простота конфигурации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Минусы: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Плохая масштабируемость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4812" y="2160970"/>
            <a:ext cx="5590730" cy="2427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350602" y="92568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Asymmetric IRB Type-2 Routes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350601" y="987306"/>
            <a:ext cx="395081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Передается два Type-2 маршрута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Один – только MAC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Второй – MAC-IP (ARP-запись)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Связка MAC-IP добавляется в ARP-Cache*</a:t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0955" y="667422"/>
            <a:ext cx="4277980" cy="43669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142994" y="4648037"/>
            <a:ext cx="43660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*У Cisco как всегда «свой путь» и это там не поддерживается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97643" y="288139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Symmetric IRB</a:t>
            </a:r>
            <a:br>
              <a:rPr lang="en-US"/>
            </a:b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397643" y="985884"/>
            <a:ext cx="784737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Маршрутизация на ingress VTEP и на egress VTEP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Симметричность – один L3VNI на разных направлениях одного потока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Маршрутизация через IP-VRF, настройки VLAN-VNI не должны быть одинаковы на всех VTEP фабрики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одном IP-VRF может быть несколько MAC-VRF (общий L3VNI)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Полноценный VRF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Плюсы: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Лучше масштабируемость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Проще интеграция с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внешним миром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Минусы: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Выше задержки (TTL -2)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9260" y="2105859"/>
            <a:ext cx="5798983" cy="2683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Symmetric IRB Type-2 Routes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500549" y="1151956"/>
            <a:ext cx="7984847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Передается два Type-2 маршрута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Один – только MAC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Второй – MAC-IP (ARP-запись)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Связка MAC-IP добавляется в ARP-Cache и в таблицу маршрутизации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MAC-IP содержит Data Plane информацию как для MAC-VRF (L2VNI) так и  IP-VRF (L3VNI)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MAC-IP содержит RT как для MAC-VRF, так и для IP-VRF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MAC-IP содержит Router MAC для маршрутизации (DST_MAC между двумя IP-VRF)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19" y="273437"/>
            <a:ext cx="3684322" cy="440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5433" y="273437"/>
            <a:ext cx="4093698" cy="4649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4800">
                <a:solidFill>
                  <a:schemeClr val="lt1"/>
                </a:solidFill>
              </a:rPr>
              <a:t>Anycast Gateway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Виртуализация шлюза по умолчанию</a:t>
            </a:r>
            <a:br>
              <a:rPr lang="en-US"/>
            </a:b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408569" y="1126580"/>
            <a:ext cx="693603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Единый Default GW на всех leaf коммутаторах (Virtual IP)</a:t>
            </a: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Единый  MAC адрес шлюза по умолчанию (Virtual MAC)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Для L3 обмена в EVPN передается реальный MAC</a:t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9824" y="1865244"/>
            <a:ext cx="6079498" cy="29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/>
              <a:t>ARP Suppression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ARP Suppression</a:t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500550" y="1059141"/>
            <a:ext cx="812235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Уменьшение BUM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VTEP перехватывает ARP пакеты подключенных хостов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в EVPN есть соответствующий Type-2 – ответить на запрос (ARP Spoofing)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нет – broadcast в фабрику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390" y="2073322"/>
            <a:ext cx="5470216" cy="275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</a:pPr>
            <a:r>
              <a:rPr lang="en-US" sz="4800">
                <a:solidFill>
                  <a:schemeClr val="lt1"/>
                </a:solidFill>
              </a:rPr>
              <a:t>Практика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6259050" cy="54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-US" sz="1350">
                <a:solidFill>
                  <a:schemeClr val="dk1"/>
                </a:solidFill>
              </a:rPr>
              <a:t>Конфигурация VxLAN</a:t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1383639" y="548776"/>
            <a:ext cx="672798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</a:pPr>
            <a:r>
              <a:rPr lang="en-US" sz="255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Конфигурация VRF, AGW </a:t>
            </a:r>
            <a:endParaRPr sz="255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160620" y="1014156"/>
            <a:ext cx="2008747" cy="33009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4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vlan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999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0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name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L3_VNI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vn-segment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100999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nve1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member vni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100999</a:t>
            </a: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050" b="0" i="0" u="none" strike="noStrike" cap="none">
                <a:solidFill>
                  <a:srgbClr val="3E3E3E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associate-vrf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Vlan999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no shutdown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vrf member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OTUS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050" b="0" i="0" u="none" strike="noStrike" cap="none">
                <a:solidFill>
                  <a:srgbClr val="3E3E3E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ip forward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3E3E3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2225351" y="1014156"/>
            <a:ext cx="1782147" cy="16389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4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vrf context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OTUS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vni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100999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rd auto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050" b="0" i="0" u="none" strike="noStrike" cap="none">
                <a:solidFill>
                  <a:srgbClr val="3E3E3E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address-family ipv4 unicast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  route-target both auto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  route-target both auto evpn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063482" y="1014156"/>
            <a:ext cx="3214396" cy="38549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4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fabric forwarding anycast-gateway-mac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0000.0000.9999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Vlan10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no shutdown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vrf member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OTUS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ip address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10.10.10.254/24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050" b="0" i="0" u="none" strike="noStrike" cap="none">
                <a:solidFill>
                  <a:srgbClr val="3E3E3E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fabric forwarding mode anycast-gateway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!</a:t>
            </a:r>
            <a:endParaRPr sz="1050" b="0" i="0" u="none" strike="noStrike" cap="none">
              <a:solidFill>
                <a:srgbClr val="3E3E3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Vlan20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no shutdown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vrf member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OTUS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ip address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20.20.20.254/24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1050" b="0" i="0" u="none" strike="noStrike" cap="none">
                <a:solidFill>
                  <a:srgbClr val="3E3E3E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fabric forwarding mode anycast-gateway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3E3E3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7366519" y="1014156"/>
            <a:ext cx="1558212" cy="136191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4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nve1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 member vni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10010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105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suppress-arp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 member vni </a:t>
            </a: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10020</a:t>
            </a:r>
            <a:endParaRPr/>
          </a:p>
          <a:p>
            <a:pPr marL="9049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lang="en-US" sz="105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Trebuchet MS"/>
                <a:ea typeface="Trebuchet MS"/>
                <a:cs typeface="Trebuchet MS"/>
                <a:sym typeface="Trebuchet MS"/>
              </a:rPr>
              <a:t>suppress-arp</a:t>
            </a:r>
            <a:endParaRPr sz="1050" b="0" i="0" u="none" strike="noStrike" cap="none">
              <a:solidFill>
                <a:srgbClr val="3E3E3E"/>
              </a:solidFill>
              <a:highlight>
                <a:srgbClr val="FFFF00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/>
              <a:t>Рефлексия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-US"/>
              <a:t>Вопросы для проверки</a:t>
            </a:r>
            <a:endParaRPr/>
          </a:p>
        </p:txBody>
      </p:sp>
      <p:sp>
        <p:nvSpPr>
          <p:cNvPr id="219" name="Google Shape;219;p33"/>
          <p:cNvSpPr/>
          <p:nvPr/>
        </p:nvSpPr>
        <p:spPr>
          <a:xfrm>
            <a:off x="500550" y="1291375"/>
            <a:ext cx="787954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Что такое L3VNI и зачем оно нужно?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В чем основное преимущество модели Symmetric IRB?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Зачем использовать виртуальный MAC шлюза для Anycast GW?</a:t>
            </a:r>
            <a:endParaRPr sz="1600" b="0" i="0" u="none" strike="noStrike" cap="non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1518413" y="330736"/>
            <a:ext cx="6390450" cy="97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-US"/>
              <a:t>Следующий вебинар</a:t>
            </a:r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2661412" y="1743919"/>
            <a:ext cx="4516628" cy="64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</a:t>
            </a:r>
            <a:r>
              <a:rPr lang="en-US"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VxLAN. vPC</a:t>
            </a:r>
            <a:r>
              <a:rPr lang="en-US"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7519" y="1481831"/>
            <a:ext cx="676163" cy="67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4"/>
          <p:cNvSpPr txBox="1"/>
          <p:nvPr/>
        </p:nvSpPr>
        <p:spPr>
          <a:xfrm>
            <a:off x="2089913" y="3279412"/>
            <a:ext cx="1324800" cy="78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Ссылка на вебинар будет</a:t>
            </a: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ЛК за 15 минут</a:t>
            </a: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3854644" y="3279413"/>
            <a:ext cx="1324800" cy="62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5676525" y="3279413"/>
            <a:ext cx="1575675" cy="62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05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2212" y="3369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80369" y="3311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4981" y="3311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1860169" y="850605"/>
            <a:ext cx="5779575" cy="363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3600" b="0"/>
              <a:t>Заполните, пожалуйста,</a:t>
            </a:r>
            <a:endParaRPr sz="36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3600" b="0"/>
              <a:t>опрос о занятии</a:t>
            </a:r>
            <a:endParaRPr sz="36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</a:pPr>
            <a:endParaRPr sz="3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</a:pPr>
            <a:r>
              <a:rPr lang="en-US" sz="3600"/>
              <a:t>Спасибо за внимание!</a:t>
            </a:r>
            <a:br>
              <a:rPr lang="en-US" sz="3600" b="0"/>
            </a:b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Экран (16:9)</PresentationFormat>
  <Paragraphs>169</Paragraphs>
  <Slides>24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Noto Sans Symbols</vt:lpstr>
      <vt:lpstr>Roboto</vt:lpstr>
      <vt:lpstr>Trebuchet MS</vt:lpstr>
      <vt:lpstr>Светлая тема</vt:lpstr>
      <vt:lpstr>VxLAN. EVPN L3</vt:lpstr>
      <vt:lpstr>Презентация PowerPoint</vt:lpstr>
      <vt:lpstr>Правила вебинара</vt:lpstr>
      <vt:lpstr>Маршрут вебинара</vt:lpstr>
      <vt:lpstr>Цели вебинара</vt:lpstr>
      <vt:lpstr>L3 архитектуры</vt:lpstr>
      <vt:lpstr>Bridged Overlay</vt:lpstr>
      <vt:lpstr>Edge-Routed Bridging</vt:lpstr>
      <vt:lpstr>Модели IRB (Integrated Routing and Bridging)</vt:lpstr>
      <vt:lpstr>Asymmetric IRB </vt:lpstr>
      <vt:lpstr>Asymmetric IRB Type-2 Routes</vt:lpstr>
      <vt:lpstr>Symmetric IRB </vt:lpstr>
      <vt:lpstr>Symmetric IRB Type-2 Routes</vt:lpstr>
      <vt:lpstr>Презентация PowerPoint</vt:lpstr>
      <vt:lpstr>Anycast Gateway</vt:lpstr>
      <vt:lpstr>Виртуализация шлюза по умолчанию </vt:lpstr>
      <vt:lpstr>ARP Suppression</vt:lpstr>
      <vt:lpstr>ARP Suppression</vt:lpstr>
      <vt:lpstr>Практика</vt:lpstr>
      <vt:lpstr>Конфигурация VxLAN</vt:lpstr>
      <vt:lpstr>Рефлексия</vt:lpstr>
      <vt:lpstr>Вопросы для проверки</vt:lpstr>
      <vt:lpstr>Следующий вебинар</vt:lpstr>
      <vt:lpstr>Заполните, пожалуйста, опрос о занятии  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Пользователь</cp:lastModifiedBy>
  <cp:revision>1</cp:revision>
  <dcterms:modified xsi:type="dcterms:W3CDTF">2026-01-19T16:52:42Z</dcterms:modified>
</cp:coreProperties>
</file>